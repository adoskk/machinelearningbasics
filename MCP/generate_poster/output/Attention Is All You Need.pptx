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0116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1A237E"/>
                </a:solidFill>
              </a:defRPr>
            </a:pPr>
            <a:r>
              <a:t>Attention is all you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18288000" cy="914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20116800" cy="16459200"/>
          </a:xfrm>
          <a:prstGeom prst="rect">
            <a:avLst/>
          </a:prstGeom>
          <a:noFill/>
        </p:spPr>
        <p:txBody>
          <a:bodyPr wrap="square" lIns="457200" rIns="457200" tIns="27432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4A90E2"/>
                </a:solidFill>
              </a:defRPr>
            </a:pPr>
            <a:r>
              <a:t>Authors</a:t>
            </a:r>
          </a:p>
          <a:p>
            <a:pPr>
              <a:spcAft>
                <a:spcPts val="800"/>
              </a:spcAft>
              <a:defRPr sz="3600">
                <a:solidFill>
                  <a:srgbClr val="323232"/>
                </a:solidFill>
              </a:defRPr>
            </a:pPr>
            <a:r>
              <a:t>Ashish Vaswani, Noam Shazeer, Niki Parmar, et al.</a:t>
            </a:r>
          </a:p>
          <a:p>
            <a:pPr>
              <a:spcAft>
                <a:spcPts val="4000"/>
              </a:spcAft>
              <a:defRPr sz="3000" i="1">
                <a:solidFill>
                  <a:srgbClr val="646464"/>
                </a:solidFill>
              </a:defRPr>
            </a:pPr>
            <a:r>
              <a:t>Google Brain</a:t>
            </a:r>
          </a:p>
          <a:p>
            <a:pPr>
              <a:spcAft>
                <a:spcPts val="2000"/>
              </a:spcAft>
              <a:defRPr sz="4800" b="1">
                <a:solidFill>
                  <a:srgbClr val="4A90E2"/>
                </a:solidFill>
              </a:defRPr>
            </a:pPr>
            <a:r>
              <a:t>Key Findings</a:t>
            </a:r>
          </a:p>
          <a:p>
            <a:pPr>
              <a:spcAft>
                <a:spcPts val="1600"/>
              </a:spcAft>
              <a:defRPr sz="3400">
                <a:solidFill>
                  <a:srgbClr val="323232"/>
                </a:solidFill>
              </a:defRPr>
            </a:pPr>
            <a:r>
              <a:t>Introduced the Transformer architecture using self-attention mechanisms, eliminating recurrence and convolutional layers.</a:t>
            </a:r>
          </a:p>
          <a:p>
            <a:pPr>
              <a:spcAft>
                <a:spcPts val="1600"/>
              </a:spcAft>
              <a:defRPr sz="3400">
                <a:solidFill>
                  <a:srgbClr val="323232"/>
                </a:solidFill>
              </a:defRPr>
            </a:pPr>
            <a:r>
              <a:t>Achieved state-of-the-art machine translation results with significantly faster training via parallel processing.</a:t>
            </a:r>
          </a:p>
          <a:p>
            <a:pPr>
              <a:spcAft>
                <a:spcPts val="1600"/>
              </a:spcAft>
              <a:defRPr sz="3400">
                <a:solidFill>
                  <a:srgbClr val="323232"/>
                </a:solidFill>
              </a:defRPr>
            </a:pPr>
            <a:r>
              <a:t>Demonstrated effective long-range dependency modeling through visualized attention patterns.</a:t>
            </a:r>
          </a:p>
          <a:p>
            <a:pPr>
              <a:spcAft>
                <a:spcPts val="3000"/>
              </a:spcAft>
            </a:pPr>
          </a:p>
        </p:txBody>
      </p:sp>
      <p:pic>
        <p:nvPicPr>
          <p:cNvPr id="5" name="Picture 4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0"/>
            <a:ext cx="10972800" cy="1463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